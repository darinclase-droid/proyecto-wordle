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78992" y="54864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09344" y="54864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139696" y="54864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670048" y="54864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78992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78992" y="1078992"/>
            <a:ext cx="475488" cy="475488"/>
          </a:xfrm>
          <a:prstGeom prst="roundRect">
            <a:avLst>
              <a:gd name="adj" fmla="val 9615"/>
            </a:avLst>
          </a:prstGeom>
          <a:solidFill>
            <a:srgbClr val="6AAA64"/>
          </a:solidFill>
          <a:ln w="12700">
            <a:solidFill>
              <a:srgbClr val="6AAA6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609344" y="1078992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139696" y="1078992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670048" y="1078992"/>
            <a:ext cx="475488" cy="475488"/>
          </a:xfrm>
          <a:prstGeom prst="roundRect">
            <a:avLst>
              <a:gd name="adj" fmla="val 9615"/>
            </a:avLst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609344"/>
            <a:ext cx="475488" cy="475488"/>
          </a:xfrm>
          <a:prstGeom prst="roundRect">
            <a:avLst>
              <a:gd name="adj" fmla="val 9615"/>
            </a:avLst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078992" y="1609344"/>
            <a:ext cx="475488" cy="475488"/>
          </a:xfrm>
          <a:prstGeom prst="roundRect">
            <a:avLst>
              <a:gd name="adj" fmla="val 9615"/>
            </a:avLst>
          </a:prstGeom>
          <a:solidFill>
            <a:srgbClr val="6AAA64"/>
          </a:solidFill>
          <a:ln w="12700">
            <a:solidFill>
              <a:srgbClr val="6AAA6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609344" y="1609344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139696" y="1609344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670048" y="1609344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2139696"/>
            <a:ext cx="475488" cy="475488"/>
          </a:xfrm>
          <a:prstGeom prst="roundRect">
            <a:avLst>
              <a:gd name="adj" fmla="val 9615"/>
            </a:avLst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078992" y="2139696"/>
            <a:ext cx="475488" cy="475488"/>
          </a:xfrm>
          <a:prstGeom prst="roundRect">
            <a:avLst>
              <a:gd name="adj" fmla="val 9615"/>
            </a:avLst>
          </a:prstGeom>
          <a:solidFill>
            <a:srgbClr val="6AAA64"/>
          </a:solidFill>
          <a:ln w="12700">
            <a:solidFill>
              <a:srgbClr val="6AAA6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609344" y="2139696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139696" y="2139696"/>
            <a:ext cx="475488" cy="475488"/>
          </a:xfrm>
          <a:prstGeom prst="roundRect">
            <a:avLst>
              <a:gd name="adj" fmla="val 9615"/>
            </a:avLst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670048" y="2139696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2670048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078992" y="2670048"/>
            <a:ext cx="475488" cy="475488"/>
          </a:xfrm>
          <a:prstGeom prst="roundRect">
            <a:avLst>
              <a:gd name="adj" fmla="val 9615"/>
            </a:avLst>
          </a:prstGeom>
          <a:solidFill>
            <a:srgbClr val="6AAA64"/>
          </a:solidFill>
          <a:ln w="12700">
            <a:solidFill>
              <a:srgbClr val="6AAA6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609344" y="2670048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139696" y="2670048"/>
            <a:ext cx="475488" cy="475488"/>
          </a:xfrm>
          <a:prstGeom prst="roundRect">
            <a:avLst>
              <a:gd name="adj" fmla="val 9615"/>
            </a:avLst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670048" y="2670048"/>
            <a:ext cx="475488" cy="475488"/>
          </a:xfrm>
          <a:prstGeom prst="roundRect">
            <a:avLst>
              <a:gd name="adj" fmla="val 9615"/>
            </a:avLst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48640" y="320040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6AAA64"/>
          </a:solidFill>
          <a:ln w="12700">
            <a:solidFill>
              <a:srgbClr val="6AAA6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078992" y="320040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6AAA64"/>
          </a:solidFill>
          <a:ln w="12700">
            <a:solidFill>
              <a:srgbClr val="6AAA6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609344" y="320040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6AAA64"/>
          </a:solidFill>
          <a:ln w="12700">
            <a:solidFill>
              <a:srgbClr val="6AAA6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139696" y="320040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6AAA64"/>
          </a:solidFill>
          <a:ln w="12700">
            <a:solidFill>
              <a:srgbClr val="6AAA6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670048" y="320040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6AAA64"/>
          </a:solidFill>
          <a:ln w="12700">
            <a:solidFill>
              <a:srgbClr val="6AAA6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114800" y="91440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Wordle</a:t>
            </a:r>
            <a:endParaRPr lang="en-US" sz="5400" dirty="0"/>
          </a:p>
        </p:txBody>
      </p:sp>
      <p:sp>
        <p:nvSpPr>
          <p:cNvPr id="33" name="Text 31"/>
          <p:cNvSpPr/>
          <p:nvPr/>
        </p:nvSpPr>
        <p:spPr>
          <a:xfrm>
            <a:off x="4114800" y="169164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6AAA6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</a:t>
            </a:r>
            <a:endParaRPr lang="en-US" sz="5400" dirty="0"/>
          </a:p>
        </p:txBody>
      </p:sp>
      <p:sp>
        <p:nvSpPr>
          <p:cNvPr id="34" name="Text 32"/>
          <p:cNvSpPr/>
          <p:nvPr/>
        </p:nvSpPr>
        <p:spPr>
          <a:xfrm>
            <a:off x="4114800" y="26517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AAAAAA"/>
                </a:solidFill>
              </a:rPr>
              <a:t>Proyecto Intermodular — DAW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114800" y="3154680"/>
            <a:ext cx="2286000" cy="36576"/>
          </a:xfrm>
          <a:prstGeom prst="rect">
            <a:avLst/>
          </a:prstGeom>
          <a:solidFill>
            <a:srgbClr val="538D4E"/>
          </a:solidFill>
          <a:ln w="12700">
            <a:solidFill>
              <a:srgbClr val="538D4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14800" y="33375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Darín Atanasov Atanasov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114800" y="37033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IES Matemático Puig Adam  ·  2025-2026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114800" y="40233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Módulos: 0612 · 0615 · 0487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AAAA"/>
                </a:solidFill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121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¿Qué es Wordle PRO?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3931920" cy="3474720"/>
          </a:xfrm>
          <a:prstGeom prst="rect">
            <a:avLst/>
          </a:prstGeom>
          <a:solidFill>
            <a:srgbClr val="1E1E20"/>
          </a:solidFill>
          <a:ln w="12700">
            <a:solidFill>
              <a:srgbClr val="2A2A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344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AA6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juego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3474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Adivina una palabra de 5 letras en un máximo de 6 intentos.
</a:t>
            </a:r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Tras cada intento el sistema colorea las celdas:
</a:t>
            </a:r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  🟩  Letra correcta en posición correcta
</a:t>
            </a:r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  🟨  Letra existe pero en otra posición
</a:t>
            </a:r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  ⬜  Letra no pertenece a la palabra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097280"/>
            <a:ext cx="4114800" cy="3474720"/>
          </a:xfrm>
          <a:prstGeom prst="rect">
            <a:avLst/>
          </a:prstGeom>
          <a:solidFill>
            <a:srgbClr val="1E1E20"/>
          </a:solidFill>
          <a:ln w="12700">
            <a:solidFill>
              <a:srgbClr val="2A2A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2344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B45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¿Por qué PRO?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1737360"/>
            <a:ext cx="35661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</a:rPr>
              <a:t>♾  Partidas ilimitadas
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</a:rPr>
              <a:t>👤  Perfiles de usuario múltiples
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</a:rPr>
              <a:t>⏱  Modo contrarreloj
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</a:rPr>
              <a:t>🌙  Tema día / noche
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</a:rPr>
              <a:t>📖  Validación con API de la RAE
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</a:rPr>
              <a:t>📱  Diseño responsive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AAAA"/>
                </a:solidFill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Tecnologías utilizadas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2560320" cy="1554480"/>
          </a:xfrm>
          <a:prstGeom prst="rect">
            <a:avLst/>
          </a:prstGeom>
          <a:solidFill>
            <a:srgbClr val="1E1E20"/>
          </a:solidFill>
          <a:ln w="12700">
            <a:solidFill>
              <a:srgbClr val="2A2A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88720"/>
            <a:ext cx="73152" cy="1554480"/>
          </a:xfrm>
          <a:prstGeom prst="rect">
            <a:avLst/>
          </a:prstGeom>
          <a:solidFill>
            <a:srgbClr val="538D4E"/>
          </a:solidFill>
          <a:ln w="12700">
            <a:solidFill>
              <a:srgbClr val="538D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371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38D4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HTML5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30352" y="1810512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Estructura semántica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y atributos data-*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188720"/>
            <a:ext cx="2560320" cy="1554480"/>
          </a:xfrm>
          <a:prstGeom prst="rect">
            <a:avLst/>
          </a:prstGeom>
          <a:solidFill>
            <a:srgbClr val="1E1E20"/>
          </a:solidFill>
          <a:ln w="12700">
            <a:solidFill>
              <a:srgbClr val="2A2A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0" y="1188720"/>
            <a:ext cx="73152" cy="1554480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64992" y="1371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B45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CSS3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64992" y="1810512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Variables, clamp(),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animaciones, temas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188720"/>
            <a:ext cx="2560320" cy="1554480"/>
          </a:xfrm>
          <a:prstGeom prst="rect">
            <a:avLst/>
          </a:prstGeom>
          <a:solidFill>
            <a:srgbClr val="1E1E20"/>
          </a:solidFill>
          <a:ln w="12700">
            <a:solidFill>
              <a:srgbClr val="2A2A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35040" y="1188720"/>
            <a:ext cx="73152" cy="1554480"/>
          </a:xfrm>
          <a:prstGeom prst="rect">
            <a:avLst/>
          </a:prstGeom>
          <a:solidFill>
            <a:srgbClr val="538D4E"/>
          </a:solidFill>
          <a:ln w="12700">
            <a:solidFill>
              <a:srgbClr val="538D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99632" y="1371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38D4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JavaScript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99632" y="1810512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ES2022 vanilla,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async/await, Fetch API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017520"/>
            <a:ext cx="2560320" cy="1554480"/>
          </a:xfrm>
          <a:prstGeom prst="rect">
            <a:avLst/>
          </a:prstGeom>
          <a:solidFill>
            <a:srgbClr val="1E1E20"/>
          </a:solidFill>
          <a:ln w="12700">
            <a:solidFill>
              <a:srgbClr val="2A2A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3017520"/>
            <a:ext cx="73152" cy="1554480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3200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B45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localStorage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0352" y="3639312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Perfiles y stats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persistentes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0" y="3017520"/>
            <a:ext cx="2560320" cy="1554480"/>
          </a:xfrm>
          <a:prstGeom prst="rect">
            <a:avLst/>
          </a:prstGeom>
          <a:solidFill>
            <a:srgbClr val="1E1E20"/>
          </a:solidFill>
          <a:ln w="12700">
            <a:solidFill>
              <a:srgbClr val="2A2A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0" y="3017520"/>
            <a:ext cx="73152" cy="1554480"/>
          </a:xfrm>
          <a:prstGeom prst="rect">
            <a:avLst/>
          </a:prstGeom>
          <a:solidFill>
            <a:srgbClr val="538D4E"/>
          </a:solidFill>
          <a:ln w="12700">
            <a:solidFill>
              <a:srgbClr val="538D4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64992" y="3200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38D4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API RAE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364992" y="3639312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Validación de palabras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+ fallback JSON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035040" y="3017520"/>
            <a:ext cx="2560320" cy="1554480"/>
          </a:xfrm>
          <a:prstGeom prst="rect">
            <a:avLst/>
          </a:prstGeom>
          <a:solidFill>
            <a:srgbClr val="1E1E20"/>
          </a:solidFill>
          <a:ln w="12700">
            <a:solidFill>
              <a:srgbClr val="2A2A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3017520"/>
            <a:ext cx="73152" cy="1554480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99632" y="3200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B45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Hunspell ES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199632" y="3639312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Diccionario oficial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836 palabras curadas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AAAA"/>
                </a:solidFill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121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Arquitectura del proyecto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4389120" cy="685800"/>
          </a:xfrm>
          <a:prstGeom prst="rect">
            <a:avLst/>
          </a:prstGeom>
          <a:solidFill>
            <a:srgbClr val="6AAA64"/>
          </a:solidFill>
          <a:ln w="12700">
            <a:solidFill>
              <a:srgbClr val="6AAA6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1615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21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index.html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0" y="12344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21213"/>
                </a:solidFill>
              </a:rPr>
              <a:t>Estructura + estilos CSS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4389120" cy="685800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3055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21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script.js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0" y="21488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21213"/>
                </a:solidFill>
              </a:rPr>
              <a:t>Lógica del juego (~420 líneas)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971800"/>
            <a:ext cx="4389120" cy="685800"/>
          </a:xfrm>
          <a:prstGeom prst="rect">
            <a:avLst/>
          </a:prstGeom>
          <a:solidFill>
            <a:srgbClr val="538D4E"/>
          </a:solidFill>
          <a:ln w="12700">
            <a:solidFill>
              <a:srgbClr val="538D4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304495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21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palabras.json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743200" y="30632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21213"/>
                </a:solidFill>
              </a:rPr>
              <a:t>836 palabras curadas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86200"/>
            <a:ext cx="4389120" cy="685800"/>
          </a:xfrm>
          <a:prstGeom prst="rect">
            <a:avLst/>
          </a:prstGeom>
          <a:solidFill>
            <a:srgbClr val="818384"/>
          </a:solidFill>
          <a:ln w="12700">
            <a:solidFill>
              <a:srgbClr val="81838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" y="395935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21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localStorage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743200" y="3977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21213"/>
                </a:solidFill>
              </a:rPr>
              <a:t>Perfiles, stats, tema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212080" y="1051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21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Módulos lógicos del script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12080" y="150876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Tema día/noche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Validación RAE + fallback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Sistema de perfiles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Tablero · Teclado · Animaciones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Lógica de juego (calcularResultados)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Temporizador · Chuleta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2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AAAA"/>
                </a:solidFill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Flujo de una partida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1097280"/>
            <a:ext cx="822960" cy="822960"/>
          </a:xfrm>
          <a:prstGeom prst="ellipse">
            <a:avLst/>
          </a:prstGeom>
          <a:solidFill>
            <a:srgbClr val="538D4E"/>
          </a:solidFill>
          <a:ln w="12700">
            <a:solidFill>
              <a:srgbClr val="538D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0972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1213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737360" y="1481328"/>
            <a:ext cx="457200" cy="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103120"/>
            <a:ext cx="1600200" cy="2011680"/>
          </a:xfrm>
          <a:prstGeom prst="rect">
            <a:avLst/>
          </a:prstGeom>
          <a:solidFill>
            <a:srgbClr val="1E1E20"/>
          </a:solidFill>
          <a:ln w="12700">
            <a:solidFill>
              <a:srgbClr val="2A2A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2240280"/>
            <a:ext cx="1417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38D4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Nueva partida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743200"/>
            <a:ext cx="1417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Se elige palabra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aleatoria del JSON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96312" y="1097280"/>
            <a:ext cx="822960" cy="822960"/>
          </a:xfrm>
          <a:prstGeom prst="ellipse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96312" y="10972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1213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456432" y="1481328"/>
            <a:ext cx="457200" cy="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84832" y="2103120"/>
            <a:ext cx="1600200" cy="2011680"/>
          </a:xfrm>
          <a:prstGeom prst="rect">
            <a:avLst/>
          </a:prstGeom>
          <a:solidFill>
            <a:srgbClr val="1E1E20"/>
          </a:solidFill>
          <a:ln w="12700">
            <a:solidFill>
              <a:srgbClr val="2A2A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176272" y="2240280"/>
            <a:ext cx="1417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B45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Escribe intento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176272" y="2743200"/>
            <a:ext cx="1417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5 letras con teclado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virtual o físico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15384" y="1097280"/>
            <a:ext cx="822960" cy="822960"/>
          </a:xfrm>
          <a:prstGeom prst="ellipse">
            <a:avLst/>
          </a:prstGeom>
          <a:solidFill>
            <a:srgbClr val="538D4E"/>
          </a:solidFill>
          <a:ln w="12700">
            <a:solidFill>
              <a:srgbClr val="538D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15384" y="10972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1213"/>
                </a:solidFill>
              </a:rPr>
              <a:t>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175504" y="1481328"/>
            <a:ext cx="457200" cy="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03904" y="2103120"/>
            <a:ext cx="1600200" cy="2011680"/>
          </a:xfrm>
          <a:prstGeom prst="rect">
            <a:avLst/>
          </a:prstGeom>
          <a:solidFill>
            <a:srgbClr val="1E1E20"/>
          </a:solidFill>
          <a:ln w="12700">
            <a:solidFill>
              <a:srgbClr val="2A2A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895344" y="2240280"/>
            <a:ext cx="1417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38D4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Pulsa Enter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895344" y="2743200"/>
            <a:ext cx="1417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Validación via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API RAE o JSON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34456" y="1097280"/>
            <a:ext cx="822960" cy="822960"/>
          </a:xfrm>
          <a:prstGeom prst="ellipse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34456" y="10972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1213"/>
                </a:solidFill>
              </a:rPr>
              <a:t>4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894576" y="1481328"/>
            <a:ext cx="457200" cy="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22976" y="2103120"/>
            <a:ext cx="1600200" cy="2011680"/>
          </a:xfrm>
          <a:prstGeom prst="rect">
            <a:avLst/>
          </a:prstGeom>
          <a:solidFill>
            <a:srgbClr val="1E1E20"/>
          </a:solidFill>
          <a:ln w="12700">
            <a:solidFill>
              <a:srgbClr val="2A2A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614416" y="2240280"/>
            <a:ext cx="1417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B45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Animación flip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614416" y="2743200"/>
            <a:ext cx="1417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Celdas se colorean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de forma escalonada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653528" y="1097280"/>
            <a:ext cx="822960" cy="822960"/>
          </a:xfrm>
          <a:prstGeom prst="ellipse">
            <a:avLst/>
          </a:prstGeom>
          <a:solidFill>
            <a:srgbClr val="538D4E"/>
          </a:solidFill>
          <a:ln w="12700">
            <a:solidFill>
              <a:srgbClr val="538D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53528" y="10972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1213"/>
                </a:solidFill>
              </a:rPr>
              <a:t>5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7242048" y="2103120"/>
            <a:ext cx="1600200" cy="2011680"/>
          </a:xfrm>
          <a:prstGeom prst="rect">
            <a:avLst/>
          </a:prstGeom>
          <a:solidFill>
            <a:srgbClr val="1E1E20"/>
          </a:solidFill>
          <a:ln w="12700">
            <a:solidFill>
              <a:srgbClr val="2A2A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333488" y="2240280"/>
            <a:ext cx="1417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38D4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¿Adivinada?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333488" y="2743200"/>
            <a:ext cx="1417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Sí → Victoria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No → Siguiente fila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AAAA"/>
                </a:solidFill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121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Funcionalidades destacadas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114800" cy="1554480"/>
          </a:xfrm>
          <a:prstGeom prst="rect">
            <a:avLst/>
          </a:prstGeom>
          <a:solidFill>
            <a:srgbClr val="1E1E20"/>
          </a:solidFill>
          <a:ln w="12700">
            <a:solidFill>
              <a:srgbClr val="2A2A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64008" cy="1554480"/>
          </a:xfrm>
          <a:prstGeom prst="rect">
            <a:avLst/>
          </a:prstGeom>
          <a:solidFill>
            <a:srgbClr val="6AAA64"/>
          </a:solidFill>
          <a:ln w="12700">
            <a:solidFill>
              <a:srgbClr val="6AAA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20700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AAA6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Validación dual RAE + JSON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627632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Consulta la API del diccionario de la RAE con timeout de 3s.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Si falla → fallback automático al JSON local.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Devuelve true / false / null para distinguir error de "no existe".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4114800" cy="1554480"/>
          </a:xfrm>
          <a:prstGeom prst="rect">
            <a:avLst/>
          </a:prstGeom>
          <a:solidFill>
            <a:srgbClr val="1E1E20"/>
          </a:solidFill>
          <a:ln w="12700">
            <a:solidFill>
              <a:srgbClr val="2A2A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64008" cy="1554480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20700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B45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Sistema de perfiles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1627632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Perfiles dinámicos con IDs únicos en localStorage.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Cada perfil guarda: nombre, jugadas, ganadas y derrotas.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Se puede crear, borrar, editar y reiniciar con confirmación.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5760" y="2743200"/>
            <a:ext cx="4114800" cy="1554480"/>
          </a:xfrm>
          <a:prstGeom prst="rect">
            <a:avLst/>
          </a:prstGeom>
          <a:solidFill>
            <a:srgbClr val="1E1E20"/>
          </a:solidFill>
          <a:ln w="12700">
            <a:solidFill>
              <a:srgbClr val="2A2A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743200"/>
            <a:ext cx="64008" cy="1554480"/>
          </a:xfrm>
          <a:prstGeom prst="rect">
            <a:avLst/>
          </a:prstGeom>
          <a:solidFill>
            <a:srgbClr val="6AAA64"/>
          </a:solidFill>
          <a:ln w="12700">
            <a:solidFill>
              <a:srgbClr val="6AAA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85292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AAA6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Animaciones sincronizadas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3273552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setTimeout escalonado (i × 300ms) para el flip de celdas.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Variable animando separa el bloqueo de input del fin de partida.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Captura de referencias locales antes de los timeouts.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54880" y="2743200"/>
            <a:ext cx="4114800" cy="1554480"/>
          </a:xfrm>
          <a:prstGeom prst="rect">
            <a:avLst/>
          </a:prstGeom>
          <a:solidFill>
            <a:srgbClr val="1E1E20"/>
          </a:solidFill>
          <a:ln w="12700">
            <a:solidFill>
              <a:srgbClr val="2A2A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2743200"/>
            <a:ext cx="64008" cy="1554480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0" y="285292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B45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Tema día / noche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37760" y="3273552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Variables CSS en :root (noche) sobreescritas en [data-tema='dia'].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Cambio suave con transition: 0.3s en body.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Preferencia persistida en localStorage.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2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AAAA"/>
                </a:solidFill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Cómo funciona la validación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474720" y="1051560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538D4E"/>
          </a:solidFill>
          <a:ln w="12700">
            <a:solidFill>
              <a:srgbClr val="538D4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474720" y="1051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21213"/>
                </a:solidFill>
              </a:rPr>
              <a:t>Jugador pulsa Enter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0" y="1920240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74720" y="19202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21213"/>
                </a:solidFill>
              </a:rPr>
              <a:t>consultarRAE()  →  fetch + 3s timeout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6AAA64"/>
          </a:solidFill>
          <a:ln w="12700">
            <a:solidFill>
              <a:srgbClr val="6AAA6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292608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21213"/>
                </a:solidFill>
              </a:rPr>
              <a:t>Responde en &lt; 3s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92240" y="2926080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C04040"/>
          </a:solidFill>
          <a:ln w="12700">
            <a:solidFill>
              <a:srgbClr val="C040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92240" y="292608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21213"/>
                </a:solidFill>
              </a:rPr>
              <a:t>Timeout / Error de red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931920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6AAA64"/>
          </a:solidFill>
          <a:ln w="12700">
            <a:solidFill>
              <a:srgbClr val="6AAA6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" y="3931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21213"/>
                </a:solidFill>
              </a:rPr>
              <a:t>true / false (RAE)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92240" y="3931920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92240" y="3931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21213"/>
                </a:solidFill>
              </a:rPr>
              <a:t>null → palabras.includes()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17720" y="1600200"/>
            <a:ext cx="0" cy="32004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2331720"/>
            <a:ext cx="1188720" cy="59436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0" y="2331720"/>
            <a:ext cx="1097280" cy="59436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3474720"/>
            <a:ext cx="0" cy="45720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635240" y="3474720"/>
            <a:ext cx="0" cy="45720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60320" y="2514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AAA64"/>
                </a:solidFill>
              </a:rPr>
              <a:t>Sí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852160" y="2514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</a:rPr>
              <a:t>No (null)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AAAA"/>
                </a:solidFill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121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Vinculación con módulos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2651760" cy="3749040"/>
          </a:xfrm>
          <a:prstGeom prst="rect">
            <a:avLst/>
          </a:prstGeom>
          <a:solidFill>
            <a:srgbClr val="1E1E20"/>
          </a:solidFill>
          <a:ln w="12700">
            <a:solidFill>
              <a:srgbClr val="2A2A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51560"/>
            <a:ext cx="2651760" cy="502920"/>
          </a:xfrm>
          <a:prstGeom prst="rect">
            <a:avLst/>
          </a:prstGeom>
          <a:solidFill>
            <a:srgbClr val="6AAA64"/>
          </a:solidFill>
          <a:ln w="12700">
            <a:solidFill>
              <a:srgbClr val="6AAA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51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121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0612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1664208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AA6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Desarrollo Web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6AAA6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Entorno Cliente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2423160"/>
            <a:ext cx="23774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</a:rPr>
              <a:t>RA2 — Sintaxis JS: ES2022, async/await, closures</a:t>
            </a:r>
            <a:endParaRPr lang="en-US" sz="1050" dirty="0"/>
          </a:p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</a:rPr>
              <a:t>RA5 — Eventos: keydown, click, AbortController</a:t>
            </a:r>
            <a:endParaRPr lang="en-US" sz="1050" dirty="0"/>
          </a:p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</a:rPr>
              <a:t>RA6 — DOM: tablero dinámico, array 2D de celdas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46120" y="1051560"/>
            <a:ext cx="2651760" cy="3749040"/>
          </a:xfrm>
          <a:prstGeom prst="rect">
            <a:avLst/>
          </a:prstGeom>
          <a:solidFill>
            <a:srgbClr val="1E1E20"/>
          </a:solidFill>
          <a:ln w="12700">
            <a:solidFill>
              <a:srgbClr val="2A2A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1051560"/>
            <a:ext cx="2651760" cy="502920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46120" y="1051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121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0615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337560" y="1664208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B45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Diseño de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9B45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Interfaces Web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83280" y="2423160"/>
            <a:ext cx="23774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</a:rPr>
              <a:t>RA2 — CSS: variables, clamp(), grid, flex</a:t>
            </a:r>
            <a:endParaRPr lang="en-US" sz="1050" dirty="0"/>
          </a:p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</a:rPr>
              <a:t>Animaciones: @keyframes, transition 0.3s</a:t>
            </a:r>
            <a:endParaRPr lang="en-US" sz="1050" dirty="0"/>
          </a:p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</a:rPr>
              <a:t>Responsive: móvil (320px) a escritorio (1280px+)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26480" y="1051560"/>
            <a:ext cx="2651760" cy="3749040"/>
          </a:xfrm>
          <a:prstGeom prst="rect">
            <a:avLst/>
          </a:prstGeom>
          <a:solidFill>
            <a:srgbClr val="1E1E20"/>
          </a:solidFill>
          <a:ln w="12700">
            <a:solidFill>
              <a:srgbClr val="2A2A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051560"/>
            <a:ext cx="2651760" cy="502920"/>
          </a:xfrm>
          <a:prstGeom prst="rect">
            <a:avLst/>
          </a:prstGeom>
          <a:solidFill>
            <a:srgbClr val="538D4E"/>
          </a:solidFill>
          <a:ln w="12700">
            <a:solidFill>
              <a:srgbClr val="538D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1051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121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0487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217920" y="1664208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38D4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Entornos de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538D4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Desarrollo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63640" y="2423160"/>
            <a:ext cx="23774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</a:rPr>
              <a:t>RA1 — Separación HTML / JS / JSON</a:t>
            </a:r>
            <a:endParaRPr lang="en-US" sz="1050" dirty="0"/>
          </a:p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</a:rPr>
              <a:t>RA2 — VS Code, DevTools, depuración</a:t>
            </a:r>
            <a:endParaRPr lang="en-US" sz="1050" dirty="0"/>
          </a:p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</a:rPr>
              <a:t>RA3 — Scripts Python para el diccionario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2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AAAA"/>
                </a:solidFill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Dificultades y soluciones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114800" cy="1600200"/>
          </a:xfrm>
          <a:prstGeom prst="rect">
            <a:avLst/>
          </a:prstGeom>
          <a:solidFill>
            <a:srgbClr val="1E1E20"/>
          </a:solidFill>
          <a:ln w="12700">
            <a:solidFill>
              <a:srgbClr val="2A2A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88720"/>
            <a:ext cx="4114800" cy="73152"/>
          </a:xfrm>
          <a:prstGeom prst="rect">
            <a:avLst/>
          </a:prstGeom>
          <a:solidFill>
            <a:srgbClr val="6AAA64"/>
          </a:solidFill>
          <a:ln w="12700">
            <a:solidFill>
              <a:srgbClr val="6AAA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3258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AAA6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⚠  Condición de carrera en animaciones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755648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✓  Variable animando separada de juegoActivo.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Captura de referencias locales (filaIdx, filaCeldas) antes de los setTimeout.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4114800" cy="1600200"/>
          </a:xfrm>
          <a:prstGeom prst="rect">
            <a:avLst/>
          </a:prstGeom>
          <a:solidFill>
            <a:srgbClr val="1E1E20"/>
          </a:solidFill>
          <a:ln w="12700">
            <a:solidFill>
              <a:srgbClr val="2A2A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188720"/>
            <a:ext cx="4114800" cy="73152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13258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B45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⚠  alert() movía el foco al botón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92040" y="1755648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✓  Reemplazado por mostrarMensaje() CSS propio.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e.preventDefault() en keydown de Enter y Backspace.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063240"/>
            <a:ext cx="4114800" cy="1600200"/>
          </a:xfrm>
          <a:prstGeom prst="rect">
            <a:avLst/>
          </a:prstGeom>
          <a:solidFill>
            <a:srgbClr val="1E1E20"/>
          </a:solidFill>
          <a:ln w="12700">
            <a:solidFill>
              <a:srgbClr val="2A2A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3063240"/>
            <a:ext cx="4114800" cy="73152"/>
          </a:xfrm>
          <a:prstGeom prst="rect">
            <a:avLst/>
          </a:prstGeom>
          <a:solidFill>
            <a:srgbClr val="6AAA64"/>
          </a:solidFill>
          <a:ln w="12700">
            <a:solidFill>
              <a:srgbClr val="6AAA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2004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AAA6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⚠  CORS en la API de la RAE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" y="3630168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✓  AbortController con timeout de 3s.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Fallback automático al JSON cuando null.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3063240"/>
            <a:ext cx="4114800" cy="1600200"/>
          </a:xfrm>
          <a:prstGeom prst="rect">
            <a:avLst/>
          </a:prstGeom>
          <a:solidFill>
            <a:srgbClr val="1E1E20"/>
          </a:solidFill>
          <a:ln w="12700">
            <a:solidFill>
              <a:srgbClr val="2A2A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3063240"/>
            <a:ext cx="4114800" cy="73152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32004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B45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⚠  Diccionario con palabras inválidas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92040" y="3630168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✓  Filtrado con Hunspell es_ES + script Python.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Eliminación de formas verbales por terminaciones típicas.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AAAA"/>
                </a:solidFill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121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Anteproyecto vs. resultado final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38D4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✅  Objetivos cumplidos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1554480"/>
            <a:ext cx="3931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Lógica del juego en JavaScript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Interfaz responsive HTML + CSS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Carga de palabras desde JSON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Reinicio automático de partidas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Estadísticas en localStorage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754880" y="105156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B45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🚀  Añadido más allá del plan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54880" y="1554480"/>
            <a:ext cx="4114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Perfiles múltiples (crear, borrar, editar)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Modo contrarreloj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Tema día / noche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Validación API RAE + fallback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Contador de derrotas diferenciado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Chuleta de palabra secreta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4160520"/>
            <a:ext cx="8412480" cy="640080"/>
          </a:xfrm>
          <a:prstGeom prst="rect">
            <a:avLst/>
          </a:prstGeom>
          <a:solidFill>
            <a:srgbClr val="FFF3CD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41605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56404"/>
                </a:solidFill>
              </a:rPr>
              <a:t>⚠  No implementado del anteproyecto: sonidos de interacción (previstos como opcionales)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2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AAAA"/>
                </a:solidFill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Conclusiones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2651760" cy="3566160"/>
          </a:xfrm>
          <a:prstGeom prst="rect">
            <a:avLst/>
          </a:prstGeom>
          <a:solidFill>
            <a:srgbClr val="1E1E20"/>
          </a:solidFill>
          <a:ln w="12700">
            <a:solidFill>
              <a:srgbClr val="2A2A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18872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6AAA64"/>
                </a:solidFill>
              </a:rPr>
              <a:t>✓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02920" y="219456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AA6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Todos los objetivos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6AAA6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cumplidos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301752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Juego funcional, responsive y con funcionalidades que superan el plan inicial.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3566160"/>
          </a:xfrm>
          <a:prstGeom prst="rect">
            <a:avLst/>
          </a:prstGeom>
          <a:solidFill>
            <a:srgbClr val="1E1E20"/>
          </a:solidFill>
          <a:ln w="12700">
            <a:solidFill>
              <a:srgbClr val="2A2A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46120" y="118872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C9B458"/>
                </a:solidFill>
              </a:rPr>
              <a:t>⚙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383280" y="219456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B45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Reto técnico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9B45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superado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83280" y="301752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Asincronía, condiciones de carrera y consumo de API resueltoscon patrones robustos.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2651760" cy="3566160"/>
          </a:xfrm>
          <a:prstGeom prst="rect">
            <a:avLst/>
          </a:prstGeom>
          <a:solidFill>
            <a:srgbClr val="1E1E20"/>
          </a:solidFill>
          <a:ln w="12700">
            <a:solidFill>
              <a:srgbClr val="2A2A2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26480" y="118872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538D4E"/>
                </a:solidFill>
              </a:rPr>
              <a:t>→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263640" y="219456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38D4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Mejoras futuras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538D4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identificadas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63640" y="301752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Backend real, tabla de clasificación global, sonidos e internacionalización del diccionario.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2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05840" y="36576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54480" y="36576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103120" y="36576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651760" y="36576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1440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05840" y="91440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554480" y="91440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103120" y="91440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651760" y="91440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146304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005840" y="146304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554480" y="146304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103120" y="146304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651760" y="146304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01168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005840" y="201168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6AAA64"/>
          </a:solidFill>
          <a:ln w="12700">
            <a:solidFill>
              <a:srgbClr val="6AAA6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554480" y="201168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103120" y="201168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651760" y="201168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56032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005840" y="256032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6AAA64"/>
          </a:solidFill>
          <a:ln w="12700">
            <a:solidFill>
              <a:srgbClr val="6AAA6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554480" y="256032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103120" y="256032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3A3A3C"/>
          </a:solidFill>
          <a:ln w="12700">
            <a:solidFill>
              <a:srgbClr val="3A3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651760" y="256032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310896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6AAA64"/>
          </a:solidFill>
          <a:ln w="12700">
            <a:solidFill>
              <a:srgbClr val="6AAA6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005840" y="310896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6AAA64"/>
          </a:solidFill>
          <a:ln w="12700">
            <a:solidFill>
              <a:srgbClr val="6AAA6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554480" y="310896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6AAA64"/>
          </a:solidFill>
          <a:ln w="12700">
            <a:solidFill>
              <a:srgbClr val="6AAA6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103120" y="310896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6AAA64"/>
          </a:solidFill>
          <a:ln w="12700">
            <a:solidFill>
              <a:srgbClr val="6AAA6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651760" y="310896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6AAA64"/>
          </a:solidFill>
          <a:ln w="12700">
            <a:solidFill>
              <a:srgbClr val="6AAA6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840480" y="128016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Gracias</a:t>
            </a:r>
            <a:endParaRPr lang="en-US" sz="5600" dirty="0"/>
          </a:p>
        </p:txBody>
      </p:sp>
      <p:sp>
        <p:nvSpPr>
          <p:cNvPr id="33" name="Text 31"/>
          <p:cNvSpPr/>
          <p:nvPr/>
        </p:nvSpPr>
        <p:spPr>
          <a:xfrm>
            <a:off x="3840480" y="228600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AAAAAA"/>
                </a:solidFill>
              </a:rPr>
              <a:t>por vuestra atención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3840480" y="2971800"/>
            <a:ext cx="2286000" cy="36576"/>
          </a:xfrm>
          <a:prstGeom prst="rect">
            <a:avLst/>
          </a:prstGeom>
          <a:solidFill>
            <a:srgbClr val="6AAA64"/>
          </a:solidFill>
          <a:ln w="12700">
            <a:solidFill>
              <a:srgbClr val="6AAA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840480" y="32004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Darín Atanasov Atanasov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840480" y="35661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IES Matemático Puig Adam  ·  DAW 2025-2026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40480" y="41605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AAA6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¿Preguntas?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Wordle PRO</dc:title>
  <dc:subject>PptxGenJS Presentation</dc:subject>
  <dc:creator>Darín Atanasov Atanasov</dc:creator>
  <cp:lastModifiedBy>Darín Atanasov Atanasov</cp:lastModifiedBy>
  <cp:revision>1</cp:revision>
  <dcterms:created xsi:type="dcterms:W3CDTF">2026-05-13T07:27:25Z</dcterms:created>
  <dcterms:modified xsi:type="dcterms:W3CDTF">2026-05-13T07:27:25Z</dcterms:modified>
</cp:coreProperties>
</file>